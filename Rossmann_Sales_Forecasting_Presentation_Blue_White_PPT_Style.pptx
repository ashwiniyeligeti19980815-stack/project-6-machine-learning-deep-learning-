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ROSSMANN SALES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011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DDCEB"/>
                </a:solidFill>
              </a:defRPr>
            </a:pPr>
            <a:r>
              <a:t>Predicting Store Sales &amp; Customer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Machine Learning • Deep Learning • MLflow • Streamlit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320040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995928"/>
            <a:ext cx="3054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1,017,209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471416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Training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886200"/>
            <a:ext cx="320040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3995928"/>
            <a:ext cx="3054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41,088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4471416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Test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886200"/>
            <a:ext cx="320040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3995928"/>
            <a:ext cx="3054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1,115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4471416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Stores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Why sales forecasting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Forecast daily sales across multiple stores up to six weeks ahead.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Sales are influenced by promotions, holidays, seasonality, customer traffic and competition.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Build a repeatable forecasting pipeline rather than a one-time analysis.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Connect analytics, prediction, model tracking and a user-facing dashboard.</a:t>
            </a:r>
          </a:p>
        </p:txBody>
      </p:sp>
      <p:pic>
        <p:nvPicPr>
          <p:cNvPr id="6" name="Picture 5" descr="08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28800"/>
            <a:ext cx="5486400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4160520"/>
            <a:ext cx="502920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4224528"/>
            <a:ext cx="4809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Data → Insight → Forecast →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Dataset &amp;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What was analysed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1,017,209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653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Train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38988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41,088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8653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Test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8016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38988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1,115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18653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10424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Target: daily Sales.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Demand signal: Customers.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Calendar variables: Date, DayOfWeek, StateHoliday, SchoolHoliday.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Store context: StoreType, Assortment, CompetitionDistance, Promo2.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Operational signals: Open and Promo.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The first step was to understand sales behaviour</a:t>
            </a:r>
          </a:p>
        </p:txBody>
      </p:sp>
      <p:pic>
        <p:nvPicPr>
          <p:cNvPr id="5" name="Picture 4" descr="01_dai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40664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417320"/>
            <a:ext cx="283464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22207" y="1481328"/>
            <a:ext cx="26151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Key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5740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Sales change substantially over time.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Calendar and seasonal features are therefore important model inputs.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EDA provides the foundation for feature engineering.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Sales &amp; Customer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Customer traffic is strongly associated with 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0.824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1965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Sales–customer correlation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3444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34416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6,956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81965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Average daily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3444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34416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763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181965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Average daily customers</a:t>
            </a:r>
          </a:p>
        </p:txBody>
      </p:sp>
      <p:pic>
        <p:nvPicPr>
          <p:cNvPr id="14" name="Picture 13" descr="06_sales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7132320" cy="3337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5320" y="27889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Higher customer traffic generally corresponds to higher sales.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Customers are an important demand 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Promotion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Promotional days show higher historical activity</a:t>
            </a:r>
          </a:p>
        </p:txBody>
      </p:sp>
      <p:pic>
        <p:nvPicPr>
          <p:cNvPr id="5" name="Picture 4" descr="03_promotio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04088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417320"/>
            <a:ext cx="182880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6448" y="1481328"/>
            <a:ext cx="1609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Average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65960"/>
            <a:ext cx="310896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075688"/>
            <a:ext cx="29626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5,929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551176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No promotion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00400"/>
            <a:ext cx="310896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3310128"/>
            <a:ext cx="29626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8,228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85615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Promotion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526280"/>
            <a:ext cx="210312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4590288"/>
            <a:ext cx="188366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Average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029200"/>
            <a:ext cx="310896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5138928"/>
            <a:ext cx="29626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697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5614416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No promotion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6263640"/>
            <a:ext cx="310896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6373368"/>
            <a:ext cx="29626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844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6848855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Promotion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Seasonality &amp; Calendar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Monthly patterns reveal recurring demand behaviour</a:t>
            </a:r>
          </a:p>
        </p:txBody>
      </p:sp>
      <p:pic>
        <p:nvPicPr>
          <p:cNvPr id="5" name="Picture 4" descr="02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58952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17320"/>
            <a:ext cx="265176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7" y="1481328"/>
            <a:ext cx="2432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01168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December average sales: ~8,609.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Weekday average sales: ~7,172.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Weekend average sales: ~5,932.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Holiday and calendar effects are useful forecasting signals.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Weekday &amp; Assortment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Store operating patterns and assortment levels differ</a:t>
            </a:r>
          </a:p>
        </p:txBody>
      </p:sp>
      <p:pic>
        <p:nvPicPr>
          <p:cNvPr id="5" name="Picture 4" descr="04_weekda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394960" cy="4114800"/>
          </a:xfrm>
          <a:prstGeom prst="rect">
            <a:avLst/>
          </a:prstGeom>
        </p:spPr>
      </p:pic>
      <p:pic>
        <p:nvPicPr>
          <p:cNvPr id="6" name="Picture 5" descr="05_assor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30352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32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F2D4E"/>
                </a:solidFill>
              </a:defRPr>
            </a:pPr>
            <a:r>
              <a:t>Average sales by assortment: A ≈ 6,621 | B ≈ 8,639 | C ≈ 7,301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Competition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Testing whether local competitive context is informative</a:t>
            </a:r>
          </a:p>
        </p:txBody>
      </p:sp>
      <p:pic>
        <p:nvPicPr>
          <p:cNvPr id="5" name="Picture 4" descr="07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463040"/>
            <a:ext cx="210312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8" y="1527048"/>
            <a:ext cx="188366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Data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011680"/>
            <a:ext cx="310896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2121408"/>
            <a:ext cx="29626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2,325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2" y="2596896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Median competitor distance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291840"/>
            <a:ext cx="310896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3401568"/>
            <a:ext cx="29626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3877056"/>
            <a:ext cx="29626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Missing distance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3374B"/>
                </a:solidFill>
                <a:latin typeface="Aptos"/>
              </a:defRPr>
            </a:pPr>
            <a:r>
              <a:t>• Competition distance was included as a store-level feature.</a:t>
            </a:r>
          </a:p>
          <a:p>
            <a:pPr>
              <a:spcAft>
                <a:spcPts val="900"/>
              </a:spcAft>
              <a:defRPr sz="1250">
                <a:solidFill>
                  <a:srgbClr val="23374B"/>
                </a:solidFill>
                <a:latin typeface="Aptos"/>
              </a:defRPr>
            </a:pPr>
            <a:r>
              <a:t>• Competitor opening/reopening patterns were also analysed.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Data Cleaning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Making the dataset model-ready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Converted Date to datetime.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Merged daily sales with store characteristics.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Handled missing competition information and checked data quality.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Created Year, Month, Week, Day, Weekend and competition/promotion duration features.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Prepared numeric and categorical variables through a reproducible preprocessing pipeline.</a:t>
            </a:r>
          </a:p>
        </p:txBody>
      </p:sp>
      <p:pic>
        <p:nvPicPr>
          <p:cNvPr id="6" name="Picture 5" descr="08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28800"/>
            <a:ext cx="5486400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4160520"/>
            <a:ext cx="502920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4224528"/>
            <a:ext cx="48097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Reusable transformation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Machine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Random Forest with a scikit-learn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653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Trees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38988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8653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Maximum depth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80160"/>
            <a:ext cx="315468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389888"/>
            <a:ext cx="30083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18653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Minimum samples / 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Random Forest Regressor was used for sales prediction.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A Pipeline combines preprocessing and modelling for consistent training and inference.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Random Forest can capture nonlinear relationships and interactions.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Feature importance provides an interpretable view of influential variables.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Model Evaluation &amp; Prediction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Time-aware validation keeps the forecasting problem realistic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20040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81328"/>
            <a:ext cx="3054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56816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Mean Absolute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0040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81328"/>
            <a:ext cx="3054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56816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Root Mean Squared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200400" cy="1024128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81328"/>
            <a:ext cx="3054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557A6"/>
                </a:solidFill>
                <a:latin typeface="Aptos Display"/>
              </a:defRPr>
            </a:pPr>
            <a:r>
              <a:t>Time-based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56816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374B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MAE is easy to interpret in sales units.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RMSE places greater weight on larger prediction errors.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The notebook includes actual-vs-predicted and residual analysis.</a:t>
            </a:r>
          </a:p>
          <a:p>
            <a:pPr>
              <a:spcAft>
                <a:spcPts val="900"/>
              </a:spcAft>
              <a:defRPr sz="1500">
                <a:solidFill>
                  <a:srgbClr val="23374B"/>
                </a:solidFill>
                <a:latin typeface="Aptos"/>
              </a:defRPr>
            </a:pPr>
            <a:r>
              <a:t>• An empirical prediction interval is included; it is not a formal statistical confidence interval.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Deep Learning — Two-Layer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A dedicated time-series workflow complements the ML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Isolate the sales series as time-series data.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Check stationarity and difference the series where required.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Inspect autocorrelation and partial autocorrelation.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Create sliding-window supervised data and scale to (-1, 1).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Train a two-layer LSTM regression model and compare RMSE with Random Forest.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822960" cy="1737360"/>
          </a:xfrm>
          <a:prstGeom prst="roundRect">
            <a:avLst/>
          </a:prstGeom>
          <a:solidFill>
            <a:srgbClr val="EAF2FB"/>
          </a:solidFill>
          <a:ln>
            <a:solidFill>
              <a:srgbClr val="15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>
                <a:solidFill>
                  <a:srgbClr val="0F2D4E"/>
                </a:solidFill>
              </a:defRPr>
            </a:pPr>
            <a:r>
              <a:t>Sales</a:t>
            </a:r>
          </a:p>
        </p:txBody>
      </p:sp>
      <p:sp>
        <p:nvSpPr>
          <p:cNvPr id="7" name="Chevron 6"/>
          <p:cNvSpPr/>
          <p:nvPr/>
        </p:nvSpPr>
        <p:spPr>
          <a:xfrm>
            <a:off x="7232904" y="2450592"/>
            <a:ext cx="201168" cy="457200"/>
          </a:xfrm>
          <a:prstGeom prst="chevron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88352" y="1828800"/>
            <a:ext cx="822960" cy="1737360"/>
          </a:xfrm>
          <a:prstGeom prst="roundRect">
            <a:avLst/>
          </a:prstGeom>
          <a:solidFill>
            <a:srgbClr val="EAF2FB"/>
          </a:solidFill>
          <a:ln>
            <a:solidFill>
              <a:srgbClr val="15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>
                <a:solidFill>
                  <a:srgbClr val="0F2D4E"/>
                </a:solidFill>
              </a:defRPr>
            </a:pPr>
            <a:r>
              <a:t>Stationarity</a:t>
            </a:r>
          </a:p>
        </p:txBody>
      </p:sp>
      <p:sp>
        <p:nvSpPr>
          <p:cNvPr id="9" name="Chevron 8"/>
          <p:cNvSpPr/>
          <p:nvPr/>
        </p:nvSpPr>
        <p:spPr>
          <a:xfrm>
            <a:off x="8220456" y="2450592"/>
            <a:ext cx="201168" cy="457200"/>
          </a:xfrm>
          <a:prstGeom prst="chevron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75904" y="1828800"/>
            <a:ext cx="822960" cy="1737360"/>
          </a:xfrm>
          <a:prstGeom prst="roundRect">
            <a:avLst/>
          </a:prstGeom>
          <a:solidFill>
            <a:srgbClr val="EAF2FB"/>
          </a:solidFill>
          <a:ln>
            <a:solidFill>
              <a:srgbClr val="15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>
                <a:solidFill>
                  <a:srgbClr val="0F2D4E"/>
                </a:solidFill>
              </a:defRPr>
            </a:pPr>
            <a:r>
              <a:t>Window</a:t>
            </a:r>
          </a:p>
        </p:txBody>
      </p:sp>
      <p:sp>
        <p:nvSpPr>
          <p:cNvPr id="11" name="Chevron 10"/>
          <p:cNvSpPr/>
          <p:nvPr/>
        </p:nvSpPr>
        <p:spPr>
          <a:xfrm>
            <a:off x="9208008" y="2450592"/>
            <a:ext cx="201168" cy="457200"/>
          </a:xfrm>
          <a:prstGeom prst="chevron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63456" y="1828800"/>
            <a:ext cx="822960" cy="1737360"/>
          </a:xfrm>
          <a:prstGeom prst="roundRect">
            <a:avLst/>
          </a:prstGeom>
          <a:solidFill>
            <a:srgbClr val="EAF2FB"/>
          </a:solidFill>
          <a:ln>
            <a:solidFill>
              <a:srgbClr val="15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>
                <a:solidFill>
                  <a:srgbClr val="0F2D4E"/>
                </a:solidFill>
              </a:defRPr>
            </a:pPr>
            <a:r>
              <a:t>Scale</a:t>
            </a:r>
          </a:p>
        </p:txBody>
      </p:sp>
      <p:sp>
        <p:nvSpPr>
          <p:cNvPr id="13" name="Chevron 12"/>
          <p:cNvSpPr/>
          <p:nvPr/>
        </p:nvSpPr>
        <p:spPr>
          <a:xfrm>
            <a:off x="10195560" y="2450592"/>
            <a:ext cx="201168" cy="457200"/>
          </a:xfrm>
          <a:prstGeom prst="chevron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51008" y="1828800"/>
            <a:ext cx="822960" cy="1737360"/>
          </a:xfrm>
          <a:prstGeom prst="roundRect">
            <a:avLst/>
          </a:prstGeom>
          <a:solidFill>
            <a:srgbClr val="EAF2FB"/>
          </a:solidFill>
          <a:ln>
            <a:solidFill>
              <a:srgbClr val="15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>
                <a:solidFill>
                  <a:srgbClr val="0F2D4E"/>
                </a:solidFill>
              </a:defRPr>
            </a:pPr>
            <a:r>
              <a:t>LSTM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MLflow &amp; Model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Tracking experiments for reproducible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Track multiple Random Forest configurations such as RF_100, RF_150 and RF_200.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Log parameters including number of trees and maximum depth.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Track MAE and RMSE for each run.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Timestamped model serialization supports daily model tracking.</a:t>
            </a:r>
          </a:p>
          <a:p>
            <a:pPr>
              <a:spcAft>
                <a:spcPts val="900"/>
              </a:spcAft>
              <a:defRPr sz="1450">
                <a:solidFill>
                  <a:srgbClr val="23374B"/>
                </a:solidFill>
                <a:latin typeface="Aptos"/>
              </a:defRPr>
            </a:pPr>
            <a:r>
              <a:t>• Include the actual MLflow dashboard screenshot in the final submission.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417320"/>
            <a:ext cx="4480560" cy="868680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72768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D4E"/>
                </a:solidFill>
              </a:defRPr>
            </a:pPr>
            <a:r>
              <a:t>RF_100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5727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374B"/>
                </a:solidFill>
              </a:defRPr>
            </a:pPr>
            <a:r>
              <a:t>100 trees  |  MAE  |  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651760"/>
            <a:ext cx="4480560" cy="868680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807208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D4E"/>
                </a:solidFill>
              </a:defRPr>
            </a:pPr>
            <a:r>
              <a:t>RF_150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0720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374B"/>
                </a:solidFill>
              </a:defRPr>
            </a:pPr>
            <a:r>
              <a:t>150 trees  |  MAE  |  RMSE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886200"/>
            <a:ext cx="4480560" cy="868680"/>
          </a:xfrm>
          <a:prstGeom prst="roundRect">
            <a:avLst/>
          </a:prstGeom>
          <a:solidFill>
            <a:srgbClr val="EAF2FB"/>
          </a:solidFill>
          <a:ln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041648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D4E"/>
                </a:solidFill>
              </a:defRPr>
            </a:pPr>
            <a:r>
              <a:t>RF_200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416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374B"/>
                </a:solidFill>
              </a:defRPr>
            </a:pPr>
            <a:r>
              <a:t>200 trees  |  MAE  |  RMSE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D4E"/>
                </a:solidFill>
                <a:latin typeface="Aptos Display"/>
              </a:defRPr>
            </a:pPr>
            <a:r>
              <a:t>Streamlit Prediction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7487"/>
                </a:solidFill>
                <a:latin typeface="Aptos"/>
              </a:defRPr>
            </a:pPr>
            <a:r>
              <a:t>Turning the model into a practical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92608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35608"/>
            <a:ext cx="2706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User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371600"/>
            <a:ext cx="292608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435608"/>
            <a:ext cx="2706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Model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371600"/>
            <a:ext cx="2926080" cy="438912"/>
          </a:xfrm>
          <a:prstGeom prst="roundRect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435608"/>
            <a:ext cx="27066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Store ID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Date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Promotion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Holiday / Weekend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Other model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116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Preprocessing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Feature engineering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Trained model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0116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Predicted Sales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Predicted Customers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Forecast chart</a:t>
            </a:r>
          </a:p>
          <a:p>
            <a:pPr>
              <a:spcAft>
                <a:spcPts val="900"/>
              </a:spcAft>
              <a:defRPr sz="1400">
                <a:solidFill>
                  <a:srgbClr val="23374B"/>
                </a:solidFill>
                <a:latin typeface="Aptos"/>
              </a:defRPr>
            </a:pPr>
            <a:r>
              <a:t>• CSV download</a:t>
            </a:r>
          </a:p>
        </p:txBody>
      </p:sp>
      <p:sp>
        <p:nvSpPr>
          <p:cNvPr id="14" name="Chevron 13"/>
          <p:cNvSpPr/>
          <p:nvPr/>
        </p:nvSpPr>
        <p:spPr>
          <a:xfrm>
            <a:off x="3794760" y="2743200"/>
            <a:ext cx="502920" cy="640080"/>
          </a:xfrm>
          <a:prstGeom prst="chevron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680960" y="2743200"/>
            <a:ext cx="502920" cy="640080"/>
          </a:xfrm>
          <a:prstGeom prst="chevron">
            <a:avLst/>
          </a:prstGeom>
          <a:solidFill>
            <a:srgbClr val="15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D4E"/>
                </a:solidFill>
              </a:defRPr>
            </a:pPr>
            <a:r>
              <a:t>Insert the final Streamlit screenshot and deployed application link before submission.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Final Outcome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CDDCEB"/>
                </a:solidFill>
                <a:latin typeface="Aptos"/>
              </a:defRPr>
            </a:pPr>
            <a:r>
              <a:t>From historical data to an end-to-end forecasting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8FB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557A6"/>
                </a:solidFill>
              </a:defRPr>
            </a:pPr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374B"/>
                </a:solidFill>
              </a:defRPr>
            </a:pPr>
            <a:r>
              <a:t>Understand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0876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8FB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7373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557A6"/>
                </a:solidFill>
              </a:defRPr>
            </a:pPr>
            <a: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24028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374B"/>
                </a:solidFill>
              </a:defRPr>
            </a:pPr>
            <a:r>
              <a:t>Forecast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8FB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557A6"/>
                </a:solidFill>
              </a:defRPr>
            </a:pPr>
            <a:r>
              <a:t>MLOps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374B"/>
                </a:solidFill>
              </a:defRPr>
            </a:pPr>
            <a:r>
              <a:t>Track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08760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8FB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73736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557A6"/>
                </a:solidFill>
              </a:defRPr>
            </a:pPr>
            <a: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24028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374B"/>
                </a:solidFill>
              </a:defRPr>
            </a:pPr>
            <a:r>
              <a:t>Serve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EDA identifies the roles of customer traffic, promotions, calendar effects, store characteristics and competition.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Feature engineering and a reusable pipeline prepare data for consistent inference.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Random Forest and two-layer LSTM provide complementary modelling approaches.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MLflow adds experiment tracking, while Streamlit makes predictions accessible to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60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DDCEB"/>
                </a:solidFill>
              </a:defRPr>
            </a:pPr>
            <a:r>
              <a:t>Final submission: executed notebook • actual metrics • MLflow evidence • DVC evidence • Streamlit screenshot • deployed link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6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487"/>
                </a:solidFill>
              </a:defRPr>
            </a:pPr>
            <a:r>
              <a:t>Rossmann Sales Forecasting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487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